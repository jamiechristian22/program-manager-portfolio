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Customer Experience Optimization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 10-month cross-functional program redesigning customer support journeys, digital self-service, voice-of-customer analytics, agent workflows, and service governance across web, contact center, and operations.</a:t>
            </a:r>
          </a:p>
          <a:p>
            <a:pPr>
              <a:spcAft>
                <a:spcPts val="1000"/>
              </a:spcAft>
              <a:defRPr sz="1800"/>
            </a:pPr>
            <a:r>
              <a:t>Budget: $2,100,000 | Duration: 10 months | Workstreams: 5 | Stakeholders: 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Strategic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Increase NPS by at least 10 points and CSAT to 90% or better.</a:t>
            </a:r>
          </a:p>
          <a:p>
            <a:pPr>
              <a:spcAft>
                <a:spcPts val="1000"/>
              </a:spcAft>
              <a:defRPr sz="1800"/>
            </a:pPr>
            <a:r>
              <a:t>Reduce average time-to-resolution by 25% and repeat contacts by 15%.</a:t>
            </a:r>
          </a:p>
          <a:p>
            <a:pPr>
              <a:spcAft>
                <a:spcPts val="1000"/>
              </a:spcAft>
              <a:defRPr sz="1800"/>
            </a:pPr>
            <a:r>
              <a:t>Launch a governed Voice of Customer process linking feedback themes to funded improvement initiatives.</a:t>
            </a:r>
          </a:p>
          <a:p>
            <a:pPr>
              <a:spcAft>
                <a:spcPts val="1000"/>
              </a:spcAft>
              <a:defRPr sz="1800"/>
            </a:pPr>
            <a:r>
              <a:t>Improve digital self-service containment while preserving escalation paths for complex issues.</a:t>
            </a:r>
          </a:p>
          <a:p>
            <a:pPr>
              <a:spcAft>
                <a:spcPts val="1000"/>
              </a:spcAft>
              <a:defRPr sz="1800"/>
            </a:pPr>
            <a:r>
              <a:t>Establish a single executive CX scorecard with accountable owners and monthly corrective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Integrated Workstreams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Voice of Customer</a:t>
            </a:r>
          </a:p>
          <a:p>
            <a:pPr>
              <a:spcAft>
                <a:spcPts val="1000"/>
              </a:spcAft>
              <a:defRPr sz="1800"/>
            </a:pPr>
            <a:r>
              <a:t>Digital Self-Service</a:t>
            </a:r>
          </a:p>
          <a:p>
            <a:pPr>
              <a:spcAft>
                <a:spcPts val="1000"/>
              </a:spcAft>
              <a:defRPr sz="1800"/>
            </a:pPr>
            <a:r>
              <a:t>Contact Center Process</a:t>
            </a:r>
          </a:p>
          <a:p>
            <a:pPr>
              <a:spcAft>
                <a:spcPts val="1000"/>
              </a:spcAft>
              <a:defRPr sz="1800"/>
            </a:pPr>
            <a:r>
              <a:t>CRM &amp; Knowledge</a:t>
            </a:r>
          </a:p>
          <a:p>
            <a:pPr>
              <a:spcAft>
                <a:spcPts val="1000"/>
              </a:spcAft>
              <a:defRPr sz="1800"/>
            </a:pPr>
            <a:r>
              <a:t>Change, Training &amp; Measurement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Executive KPI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NPS: 41 → 54 (+13 pts)</a:t>
            </a:r>
          </a:p>
          <a:p>
            <a:pPr>
              <a:spcAft>
                <a:spcPts val="1000"/>
              </a:spcAft>
              <a:defRPr sz="1800"/>
            </a:pPr>
            <a:r>
              <a:t>CSAT: 82 → 91 (+9 pts)</a:t>
            </a:r>
          </a:p>
          <a:p>
            <a:pPr>
              <a:spcAft>
                <a:spcPts val="1000"/>
              </a:spcAft>
              <a:defRPr sz="1800"/>
            </a:pPr>
            <a:r>
              <a:t>First contact resolution: 68 → 79 (+11 pts)</a:t>
            </a:r>
          </a:p>
          <a:p>
            <a:pPr>
              <a:spcAft>
                <a:spcPts val="1000"/>
              </a:spcAft>
              <a:defRPr sz="1800"/>
            </a:pPr>
            <a:r>
              <a:t>Avg. resolution hours: 31 → 22 (-29%)</a:t>
            </a:r>
          </a:p>
          <a:p>
            <a:pPr>
              <a:spcAft>
                <a:spcPts val="1000"/>
              </a:spcAft>
              <a:defRPr sz="1800"/>
            </a:pPr>
            <a:r>
              <a:t>Repeat contact rate: 24 → 19 (-21%)</a:t>
            </a:r>
          </a:p>
          <a:p>
            <a:pPr>
              <a:spcAft>
                <a:spcPts val="1000"/>
              </a:spcAft>
              <a:defRPr sz="1800"/>
            </a:pPr>
            <a:r>
              <a:t>Self-service containment: 34 → 49 (+15 pts)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Financial &amp; Benefits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Approved budget: $2,100,000</a:t>
            </a:r>
          </a:p>
          <a:p>
            <a:pPr>
              <a:spcAft>
                <a:spcPts val="1000"/>
              </a:spcAft>
              <a:defRPr sz="1800"/>
            </a:pPr>
            <a:r>
              <a:t>Forecast annualized benefits: $1,802,000</a:t>
            </a:r>
          </a:p>
          <a:p>
            <a:pPr>
              <a:spcAft>
                <a:spcPts val="1000"/>
              </a:spcAft>
              <a:defRPr sz="1800"/>
            </a:pPr>
            <a:r>
              <a:t>Retention uplift: $840,000</a:t>
            </a:r>
          </a:p>
          <a:p>
            <a:pPr>
              <a:spcAft>
                <a:spcPts val="1000"/>
              </a:spcAft>
              <a:defRPr sz="1800"/>
            </a:pPr>
            <a:r>
              <a:t>Reduced support handling cost: $465,000</a:t>
            </a:r>
          </a:p>
          <a:p>
            <a:pPr>
              <a:spcAft>
                <a:spcPts val="1000"/>
              </a:spcAft>
              <a:defRPr sz="1800"/>
            </a:pPr>
            <a:r>
              <a:t>Digital containment savings: $292,000</a:t>
            </a:r>
          </a:p>
          <a:p>
            <a:pPr>
              <a:spcAft>
                <a:spcPts val="1000"/>
              </a:spcAft>
              <a:defRPr sz="1800"/>
            </a:pPr>
            <a:r>
              <a:t>Productivity / rework reduction: $205,000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Top Risks &amp;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R-001 — VOC data fragmented across channels | High/Medium | Common taxonomy, data dictionary, and weekly quality checks | Mitigated</a:t>
            </a:r>
          </a:p>
          <a:p>
            <a:pPr>
              <a:spcAft>
                <a:spcPts val="1000"/>
              </a:spcAft>
              <a:defRPr sz="1800"/>
            </a:pPr>
            <a:r>
              <a:t>R-002 — Agent adoption of new workflows | Medium/High | Pilot cohort, floor support, coaching and adoption dashboard | Closed</a:t>
            </a:r>
          </a:p>
          <a:p>
            <a:pPr>
              <a:spcAft>
                <a:spcPts val="1000"/>
              </a:spcAft>
              <a:defRPr sz="1800"/>
            </a:pPr>
            <a:r>
              <a:t>R-003 — Self-service creates dead-end journeys | Medium/High | Human escalation criteria and journey usability testing | Monitoring</a:t>
            </a:r>
          </a:p>
          <a:p>
            <a:pPr>
              <a:spcAft>
                <a:spcPts val="1000"/>
              </a:spcAft>
              <a:defRPr sz="1800"/>
            </a:pPr>
            <a:r>
              <a:t>R-004 — CRM configuration backlog | High/Medium | Dedicated sprint capacity and priority governance | Mitigated</a:t>
            </a:r>
          </a:p>
          <a:p>
            <a:pPr>
              <a:spcAft>
                <a:spcPts val="1000"/>
              </a:spcAft>
              <a:defRPr sz="1800"/>
            </a:pPr>
            <a:r>
              <a:t>R-005 — Metric definitions disputed | Medium/Medium | KPI charter with approved formulas, sources and owners | Closed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Governance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Weekly integrated delivery review across all workstreams.</a:t>
            </a:r>
          </a:p>
          <a:p>
            <a:pPr>
              <a:spcAft>
                <a:spcPts val="1000"/>
              </a:spcAft>
              <a:defRPr sz="1800"/>
            </a:pPr>
            <a:r>
              <a:t>Monthly steering committee for funding, scope, timeline and risk decisions.</a:t>
            </a:r>
          </a:p>
          <a:p>
            <a:pPr>
              <a:spcAft>
                <a:spcPts val="1000"/>
              </a:spcAft>
              <a:defRPr sz="1800"/>
            </a:pPr>
            <a:r>
              <a:t>Formal change control for baseline impacts.</a:t>
            </a:r>
          </a:p>
          <a:p>
            <a:pPr>
              <a:spcAft>
                <a:spcPts val="1000"/>
              </a:spcAft>
              <a:defRPr sz="1800"/>
            </a:pPr>
            <a:r>
              <a:t>30/60/90-day benefits validation after transition.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Closure &amp;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Delivery scope completed and transitioned to accountable BAU owners.</a:t>
            </a:r>
          </a:p>
          <a:p>
            <a:pPr>
              <a:spcAft>
                <a:spcPts val="1000"/>
              </a:spcAft>
              <a:defRPr sz="1800"/>
            </a:pPr>
            <a:r>
              <a:t>Residual risks accepted with owners and monitoring dates.</a:t>
            </a:r>
          </a:p>
          <a:p>
            <a:pPr>
              <a:spcAft>
                <a:spcPts val="1000"/>
              </a:spcAft>
              <a:defRPr sz="1800"/>
            </a:pPr>
            <a:r>
              <a:t>Benefits measurement transferred to business owners and Finance.</a:t>
            </a:r>
          </a:p>
          <a:p>
            <a:pPr>
              <a:spcAft>
                <a:spcPts val="1000"/>
              </a:spcAft>
              <a:defRPr sz="1800"/>
            </a:pPr>
            <a:r>
              <a:t>Lessons learned retained for future enterprise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