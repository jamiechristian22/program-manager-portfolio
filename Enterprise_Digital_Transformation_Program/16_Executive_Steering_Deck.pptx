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Enterprise Digital Transformation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An 18-month enterprise modernization program integrating process redesign, workflow digitization, data governance, collaboration tooling, operating-model changes, and portfolio governance across seven business functions.</a:t>
            </a:r>
          </a:p>
          <a:p>
            <a:pPr>
              <a:spcAft>
                <a:spcPts val="1000"/>
              </a:spcAft>
              <a:defRPr sz="1800"/>
            </a:pPr>
            <a:r>
              <a:t>Budget: $7,200,000 | Duration: 18 months | Workstreams: 7 | Stakeholders: 168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Strategic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Digitize 24 high-volume workflows and retire redundant manual handoffs.</a:t>
            </a:r>
          </a:p>
          <a:p>
            <a:pPr>
              <a:spcAft>
                <a:spcPts val="1000"/>
              </a:spcAft>
              <a:defRPr sz="1800"/>
            </a:pPr>
            <a:r>
              <a:t>Reduce cycle time across targeted processes by at least 25%.</a:t>
            </a:r>
          </a:p>
          <a:p>
            <a:pPr>
              <a:spcAft>
                <a:spcPts val="1000"/>
              </a:spcAft>
              <a:defRPr sz="1800"/>
            </a:pPr>
            <a:r>
              <a:t>Create enterprise governance for initiative intake, prioritization, dependencies, benefits, and executive decisions.</a:t>
            </a:r>
          </a:p>
          <a:p>
            <a:pPr>
              <a:spcAft>
                <a:spcPts val="1000"/>
              </a:spcAft>
              <a:defRPr sz="1800"/>
            </a:pPr>
            <a:r>
              <a:t>Improve data ownership and reporting consistency through a governed KPI catalog.</a:t>
            </a:r>
          </a:p>
          <a:p>
            <a:pPr>
              <a:spcAft>
                <a:spcPts val="1000"/>
              </a:spcAft>
              <a:defRPr sz="1800"/>
            </a:pPr>
            <a:r>
              <a:t>Deliver sustainable operating-model changes supported by training, adoption metrics, and transition-to-operations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Integrated Workstreams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Process Redesign</a:t>
            </a:r>
          </a:p>
          <a:p>
            <a:pPr>
              <a:spcAft>
                <a:spcPts val="1000"/>
              </a:spcAft>
              <a:defRPr sz="1800"/>
            </a:pPr>
            <a:r>
              <a:t>Workflow Automation</a:t>
            </a:r>
          </a:p>
          <a:p>
            <a:pPr>
              <a:spcAft>
                <a:spcPts val="1000"/>
              </a:spcAft>
              <a:defRPr sz="1800"/>
            </a:pPr>
            <a:r>
              <a:t>Data &amp; Analytics</a:t>
            </a:r>
          </a:p>
          <a:p>
            <a:pPr>
              <a:spcAft>
                <a:spcPts val="1000"/>
              </a:spcAft>
              <a:defRPr sz="1800"/>
            </a:pPr>
            <a:r>
              <a:t>Collaboration Platform</a:t>
            </a:r>
          </a:p>
          <a:p>
            <a:pPr>
              <a:spcAft>
                <a:spcPts val="1000"/>
              </a:spcAft>
              <a:defRPr sz="1800"/>
            </a:pPr>
            <a:r>
              <a:t>Operating Model</a:t>
            </a:r>
          </a:p>
          <a:p>
            <a:pPr>
              <a:spcAft>
                <a:spcPts val="1000"/>
              </a:spcAft>
              <a:defRPr sz="1800"/>
            </a:pPr>
            <a:r>
              <a:t>Change &amp; Adoption</a:t>
            </a:r>
          </a:p>
          <a:p>
            <a:pPr>
              <a:spcAft>
                <a:spcPts val="1000"/>
              </a:spcAft>
              <a:defRPr sz="1800"/>
            </a:pPr>
            <a:r>
              <a:t>Portfolio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Executive KPI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Workflows digitized: 24 → 24 (100%)</a:t>
            </a:r>
          </a:p>
          <a:p>
            <a:pPr>
              <a:spcAft>
                <a:spcPts val="1000"/>
              </a:spcAft>
              <a:defRPr sz="1800"/>
            </a:pPr>
            <a:r>
              <a:t>Average cycle-time reduction: 25 → 31 (31%)</a:t>
            </a:r>
          </a:p>
          <a:p>
            <a:pPr>
              <a:spcAft>
                <a:spcPts val="1000"/>
              </a:spcAft>
              <a:defRPr sz="1800"/>
            </a:pPr>
            <a:r>
              <a:t>Manual handoffs eliminated: 70 → 76 (76)</a:t>
            </a:r>
          </a:p>
          <a:p>
            <a:pPr>
              <a:spcAft>
                <a:spcPts val="1000"/>
              </a:spcAft>
              <a:defRPr sz="1800"/>
            </a:pPr>
            <a:r>
              <a:t>Active-user adoption: 85 → 91 (91%)</a:t>
            </a:r>
          </a:p>
          <a:p>
            <a:pPr>
              <a:spcAft>
                <a:spcPts val="1000"/>
              </a:spcAft>
              <a:defRPr sz="1800"/>
            </a:pPr>
            <a:r>
              <a:t>Benefits realized vs plan: 100 → 106 (106%)</a:t>
            </a:r>
          </a:p>
          <a:p>
            <a:pPr>
              <a:spcAft>
                <a:spcPts val="1000"/>
              </a:spcAft>
              <a:defRPr sz="1800"/>
            </a:pPr>
            <a:r>
              <a:t>Priority milestones on time: 40 → 38 (95%)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Financial &amp; Benefits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Approved budget: $7,200,000</a:t>
            </a:r>
          </a:p>
          <a:p>
            <a:pPr>
              <a:spcAft>
                <a:spcPts val="1000"/>
              </a:spcAft>
              <a:defRPr sz="1800"/>
            </a:pPr>
            <a:r>
              <a:t>Forecast annualized benefits: $3,745,000</a:t>
            </a:r>
          </a:p>
          <a:p>
            <a:pPr>
              <a:spcAft>
                <a:spcPts val="1000"/>
              </a:spcAft>
              <a:defRPr sz="1800"/>
            </a:pPr>
            <a:r>
              <a:t>Labor productivity capacity: $1,780,000</a:t>
            </a:r>
          </a:p>
          <a:p>
            <a:pPr>
              <a:spcAft>
                <a:spcPts val="1000"/>
              </a:spcAft>
              <a:defRPr sz="1800"/>
            </a:pPr>
            <a:r>
              <a:t>Process error reduction: $565,000</a:t>
            </a:r>
          </a:p>
          <a:p>
            <a:pPr>
              <a:spcAft>
                <a:spcPts val="1000"/>
              </a:spcAft>
              <a:defRPr sz="1800"/>
            </a:pPr>
            <a:r>
              <a:t>Legacy tooling retirement: $720,000</a:t>
            </a:r>
          </a:p>
          <a:p>
            <a:pPr>
              <a:spcAft>
                <a:spcPts val="1000"/>
              </a:spcAft>
              <a:defRPr sz="1800"/>
            </a:pPr>
            <a:r>
              <a:t>Faster revenue / service cycle: $680,000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Top Risks &amp;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R-001 — Transformation fatigue | High/High | Sequenced releases, sponsor reinforcement and adoption heatmap | Monitoring</a:t>
            </a:r>
          </a:p>
          <a:p>
            <a:pPr>
              <a:spcAft>
                <a:spcPts val="1000"/>
              </a:spcAft>
              <a:defRPr sz="1800"/>
            </a:pPr>
            <a:r>
              <a:t>R-002 — Competing functional priorities | High/Medium | Portfolio scoring and steering committee arbitration | Mitigated</a:t>
            </a:r>
          </a:p>
          <a:p>
            <a:pPr>
              <a:spcAft>
                <a:spcPts val="1000"/>
              </a:spcAft>
              <a:defRPr sz="1800"/>
            </a:pPr>
            <a:r>
              <a:t>R-003 — Data ownership gaps | Medium/High | Named data owners and governance council | Mitigated</a:t>
            </a:r>
          </a:p>
          <a:p>
            <a:pPr>
              <a:spcAft>
                <a:spcPts val="1000"/>
              </a:spcAft>
              <a:defRPr sz="1800"/>
            </a:pPr>
            <a:r>
              <a:t>R-004 — Automation scope creep | High/Medium | Value-based intake gate and architecture review | Closed</a:t>
            </a:r>
          </a:p>
          <a:p>
            <a:pPr>
              <a:spcAft>
                <a:spcPts val="1000"/>
              </a:spcAft>
              <a:defRPr sz="1800"/>
            </a:pPr>
            <a:r>
              <a:t>R-005 — Benefits not sustained after launch | Medium/High | Benefit owners, 30/60/90-day checks and BAU scorecards |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Governance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Weekly integrated delivery review across all workstreams.</a:t>
            </a:r>
          </a:p>
          <a:p>
            <a:pPr>
              <a:spcAft>
                <a:spcPts val="1000"/>
              </a:spcAft>
              <a:defRPr sz="1800"/>
            </a:pPr>
            <a:r>
              <a:t>Monthly steering committee for funding, scope, timeline and risk decisions.</a:t>
            </a:r>
          </a:p>
          <a:p>
            <a:pPr>
              <a:spcAft>
                <a:spcPts val="1000"/>
              </a:spcAft>
              <a:defRPr sz="1800"/>
            </a:pPr>
            <a:r>
              <a:t>Formal change control for baseline impacts.</a:t>
            </a:r>
          </a:p>
          <a:p>
            <a:pPr>
              <a:spcAft>
                <a:spcPts val="1000"/>
              </a:spcAft>
              <a:defRPr sz="1800"/>
            </a:pPr>
            <a:r>
              <a:t>30/60/90-day benefits validation after transition.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Closure &amp;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Delivery scope completed and transitioned to accountable BAU owners.</a:t>
            </a:r>
          </a:p>
          <a:p>
            <a:pPr>
              <a:spcAft>
                <a:spcPts val="1000"/>
              </a:spcAft>
              <a:defRPr sz="1800"/>
            </a:pPr>
            <a:r>
              <a:t>Residual risks accepted with owners and monitoring dates.</a:t>
            </a:r>
          </a:p>
          <a:p>
            <a:pPr>
              <a:spcAft>
                <a:spcPts val="1000"/>
              </a:spcAft>
              <a:defRPr sz="1800"/>
            </a:pPr>
            <a:r>
              <a:t>Benefits measurement transferred to business owners and Finance.</a:t>
            </a:r>
          </a:p>
          <a:p>
            <a:pPr>
              <a:spcAft>
                <a:spcPts val="1000"/>
              </a:spcAft>
              <a:defRPr sz="1800"/>
            </a:pPr>
            <a:r>
              <a:t>Lessons learned retained for future enterprise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