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Enterprise Cloud Migration &amp; Security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 14-month enterprise transformation to migrate 38 business applications from aging on-premises infrastructure to a secure AWS/Azure operating model while strengthening identity, monitoring, resilience, compliance, and cloud governance.</a:t>
            </a:r>
          </a:p>
          <a:p>
            <a:pPr>
              <a:spcAft>
                <a:spcPts val="1000"/>
              </a:spcAft>
              <a:defRPr sz="1800"/>
            </a:pPr>
            <a:r>
              <a:t>Budget: $4,800,000 | Duration: 14 months | Workstreams: 6 | Stakeholders: 124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Strategic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Migrate 38 applications using discovery, remediation, pilot, wave migration, validation, and decommissioning stages.</a:t>
            </a:r>
          </a:p>
          <a:p>
            <a:pPr>
              <a:spcAft>
                <a:spcPts val="1000"/>
              </a:spcAft>
              <a:defRPr sz="1800"/>
            </a:pPr>
            <a:r>
              <a:t>Reduce annual infrastructure run cost by at least 20% while maintaining service availability above 99.9%.</a:t>
            </a:r>
          </a:p>
          <a:p>
            <a:pPr>
              <a:spcAft>
                <a:spcPts val="1000"/>
              </a:spcAft>
              <a:defRPr sz="1800"/>
            </a:pPr>
            <a:r>
              <a:t>Implement centralized IAM, MFA, least-privilege access, security logging, vulnerability remediation, and cloud policy guardrails.</a:t>
            </a:r>
          </a:p>
          <a:p>
            <a:pPr>
              <a:spcAft>
                <a:spcPts val="1000"/>
              </a:spcAft>
              <a:defRPr sz="1800"/>
            </a:pPr>
            <a:r>
              <a:t>Establish an executive governance model with weekly delivery reviews, monthly steering committees, decision rights, and formal escalation paths.</a:t>
            </a:r>
          </a:p>
          <a:p>
            <a:pPr>
              <a:spcAft>
                <a:spcPts val="1000"/>
              </a:spcAft>
              <a:defRPr sz="1800"/>
            </a:pPr>
            <a:r>
              <a:t>Complete knowledge transfer, operational readiness, and legacy decommissioning without a Severity 1 migration-caused outage.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Integrated Workstreams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Application Discovery &amp; Rationalization</a:t>
            </a:r>
          </a:p>
          <a:p>
            <a:pPr>
              <a:spcAft>
                <a:spcPts val="1000"/>
              </a:spcAft>
              <a:defRPr sz="1800"/>
            </a:pPr>
            <a:r>
              <a:t>Cloud Foundation &amp; Networking</a:t>
            </a:r>
          </a:p>
          <a:p>
            <a:pPr>
              <a:spcAft>
                <a:spcPts val="1000"/>
              </a:spcAft>
              <a:defRPr sz="1800"/>
            </a:pPr>
            <a:r>
              <a:t>Identity &amp; Security</a:t>
            </a:r>
          </a:p>
          <a:p>
            <a:pPr>
              <a:spcAft>
                <a:spcPts val="1000"/>
              </a:spcAft>
              <a:defRPr sz="1800"/>
            </a:pPr>
            <a:r>
              <a:t>Migration Factory</a:t>
            </a:r>
          </a:p>
          <a:p>
            <a:pPr>
              <a:spcAft>
                <a:spcPts val="1000"/>
              </a:spcAft>
              <a:defRPr sz="1800"/>
            </a:pPr>
            <a:r>
              <a:t>Testing &amp; Cutover</a:t>
            </a:r>
          </a:p>
          <a:p>
            <a:pPr>
              <a:spcAft>
                <a:spcPts val="1000"/>
              </a:spcAft>
              <a:defRPr sz="1800"/>
            </a:pPr>
            <a:r>
              <a:t>Operations &amp; Change Enablement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Executive KPI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Applications migrated: 38 → 38 (100%)</a:t>
            </a:r>
          </a:p>
          <a:p>
            <a:pPr>
              <a:spcAft>
                <a:spcPts val="1000"/>
              </a:spcAft>
              <a:defRPr sz="1800"/>
            </a:pPr>
            <a:r>
              <a:t>Critical security findings remediated: 47 → 45 (95.7%)</a:t>
            </a:r>
          </a:p>
          <a:p>
            <a:pPr>
              <a:spcAft>
                <a:spcPts val="1000"/>
              </a:spcAft>
              <a:defRPr sz="1800"/>
            </a:pPr>
            <a:r>
              <a:t>Milestones delivered on time: 32 → 31 (96.9%)</a:t>
            </a:r>
          </a:p>
          <a:p>
            <a:pPr>
              <a:spcAft>
                <a:spcPts val="1000"/>
              </a:spcAft>
              <a:defRPr sz="1800"/>
            </a:pPr>
            <a:r>
              <a:t>Cloud policy coverage: 100 → 98 (98%)</a:t>
            </a:r>
          </a:p>
          <a:p>
            <a:pPr>
              <a:spcAft>
                <a:spcPts val="1000"/>
              </a:spcAft>
              <a:defRPr sz="1800"/>
            </a:pPr>
            <a:r>
              <a:t>Training completion: 100 → 96 (96%)</a:t>
            </a:r>
          </a:p>
          <a:p>
            <a:pPr>
              <a:spcAft>
                <a:spcPts val="1000"/>
              </a:spcAft>
              <a:defRPr sz="1800"/>
            </a:pPr>
            <a:r>
              <a:t>Annual run-cost reduction: 20 → 21.4 (21.4%)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Financial &amp; Benefits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Approved budget: $4,800,000</a:t>
            </a:r>
          </a:p>
          <a:p>
            <a:pPr>
              <a:spcAft>
                <a:spcPts val="1000"/>
              </a:spcAft>
              <a:defRPr sz="1800"/>
            </a:pPr>
            <a:r>
              <a:t>Forecast annualized benefits: $2,230,000</a:t>
            </a:r>
          </a:p>
          <a:p>
            <a:pPr>
              <a:spcAft>
                <a:spcPts val="1000"/>
              </a:spcAft>
              <a:defRPr sz="1800"/>
            </a:pPr>
            <a:r>
              <a:t>Infrastructure run-cost reduction: $1,090,000</a:t>
            </a:r>
          </a:p>
          <a:p>
            <a:pPr>
              <a:spcAft>
                <a:spcPts val="1000"/>
              </a:spcAft>
              <a:defRPr sz="1800"/>
            </a:pPr>
            <a:r>
              <a:t>Data center exit / avoided renewal: $620,000</a:t>
            </a:r>
          </a:p>
          <a:p>
            <a:pPr>
              <a:spcAft>
                <a:spcPts val="1000"/>
              </a:spcAft>
              <a:defRPr sz="1800"/>
            </a:pPr>
            <a:r>
              <a:t>Reduced outage/productivity loss: $315,000</a:t>
            </a:r>
          </a:p>
          <a:p>
            <a:pPr>
              <a:spcAft>
                <a:spcPts val="1000"/>
              </a:spcAft>
              <a:defRPr sz="1800"/>
            </a:pPr>
            <a:r>
              <a:t>Security tooling consolidation: $205,000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Top Risks &amp;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R-001 — Legacy application incompatibility | High/High | Application remediation sprint and containerization assessment | Mitigated</a:t>
            </a:r>
          </a:p>
          <a:p>
            <a:pPr>
              <a:spcAft>
                <a:spcPts val="1000"/>
              </a:spcAft>
              <a:defRPr sz="1800"/>
            </a:pPr>
            <a:r>
              <a:t>R-002 — Identity federation delays | Medium/High | Prioritize SSO integration and establish break-glass access | Closed</a:t>
            </a:r>
          </a:p>
          <a:p>
            <a:pPr>
              <a:spcAft>
                <a:spcPts val="1000"/>
              </a:spcAft>
              <a:defRPr sz="1800"/>
            </a:pPr>
            <a:r>
              <a:t>R-003 — Migration wave resource contention | High/Medium | Capacity plan with protected migration windows and backup engineers | Monitoring</a:t>
            </a:r>
          </a:p>
          <a:p>
            <a:pPr>
              <a:spcAft>
                <a:spcPts val="1000"/>
              </a:spcAft>
              <a:defRPr sz="1800"/>
            </a:pPr>
            <a:r>
              <a:t>R-004 — Unexpected cloud spend | Medium/Medium | FinOps budgets, tagging policy, rightsizing reviews and reserved capacity analysis | Mitigated</a:t>
            </a:r>
          </a:p>
          <a:p>
            <a:pPr>
              <a:spcAft>
                <a:spcPts val="1000"/>
              </a:spcAft>
              <a:defRPr sz="1800"/>
            </a:pPr>
            <a:r>
              <a:t>R-005 — Business cutover resistance | Medium/Medium | Change champions, rehearsals, role-based communications and hypercare | Closed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Governance &amp;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Weekly integrated delivery review across all workstreams.</a:t>
            </a:r>
          </a:p>
          <a:p>
            <a:pPr>
              <a:spcAft>
                <a:spcPts val="1000"/>
              </a:spcAft>
              <a:defRPr sz="1800"/>
            </a:pPr>
            <a:r>
              <a:t>Monthly steering committee for funding, scope, timeline and risk decisions.</a:t>
            </a:r>
          </a:p>
          <a:p>
            <a:pPr>
              <a:spcAft>
                <a:spcPts val="1000"/>
              </a:spcAft>
              <a:defRPr sz="1800"/>
            </a:pPr>
            <a:r>
              <a:t>Formal change control for baseline impacts.</a:t>
            </a:r>
          </a:p>
          <a:p>
            <a:pPr>
              <a:spcAft>
                <a:spcPts val="1000"/>
              </a:spcAft>
              <a:defRPr sz="1800"/>
            </a:pPr>
            <a:r>
              <a:t>30/60/90-day benefits validation after transition.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/>
              <a:t>Closure &amp; Transition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Delivery scope completed and transitioned to accountable BAU owners.</a:t>
            </a:r>
          </a:p>
          <a:p>
            <a:pPr>
              <a:spcAft>
                <a:spcPts val="1000"/>
              </a:spcAft>
              <a:defRPr sz="1800"/>
            </a:pPr>
            <a:r>
              <a:t>Residual risks accepted with owners and monitoring dates.</a:t>
            </a:r>
          </a:p>
          <a:p>
            <a:pPr>
              <a:spcAft>
                <a:spcPts val="1000"/>
              </a:spcAft>
              <a:defRPr sz="1800"/>
            </a:pPr>
            <a:r>
              <a:t>Benefits measurement transferred to business owners and Finance.</a:t>
            </a:r>
          </a:p>
          <a:p>
            <a:pPr>
              <a:spcAft>
                <a:spcPts val="1000"/>
              </a:spcAft>
              <a:defRPr sz="1800"/>
            </a:pPr>
            <a:r>
              <a:t>Lessons learned retained for future enterprise programs.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