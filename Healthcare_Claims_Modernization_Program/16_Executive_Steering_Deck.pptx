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Healthcare Claims Modernization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A 16-month modernization program replacing fragmented claims workflows with an integrated processing, rules, reporting, and provider-support model while protecting PHI, strengthening controls, and improving adjudication performance.</a:t>
            </a:r>
          </a:p>
          <a:p>
            <a:pPr>
              <a:spcAft>
                <a:spcPts val="1000"/>
              </a:spcAft>
              <a:defRPr sz="1800"/>
            </a:pPr>
            <a:r>
              <a:t>Budget: $6,300,000 | Duration: 16 months | Workstreams: 6 | Stakeholders: 142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Strategic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Improve clean-claim adjudication and reduce avoidable manual touches.</a:t>
            </a:r>
          </a:p>
          <a:p>
            <a:pPr>
              <a:spcAft>
                <a:spcPts val="1000"/>
              </a:spcAft>
              <a:defRPr sz="1800"/>
            </a:pPr>
            <a:r>
              <a:t>Reduce average claims cycle time while maintaining payment accuracy and auditability.</a:t>
            </a:r>
          </a:p>
          <a:p>
            <a:pPr>
              <a:spcAft>
                <a:spcPts val="1000"/>
              </a:spcAft>
              <a:defRPr sz="1800"/>
            </a:pPr>
            <a:r>
              <a:t>Modernize integrations, rules management, reporting, and provider exception handling.</a:t>
            </a:r>
          </a:p>
          <a:p>
            <a:pPr>
              <a:spcAft>
                <a:spcPts val="1000"/>
              </a:spcAft>
              <a:defRPr sz="1800"/>
            </a:pPr>
            <a:r>
              <a:t>Embed privacy, access, audit, retention, and regulatory controls throughout delivery.</a:t>
            </a:r>
          </a:p>
          <a:p>
            <a:pPr>
              <a:spcAft>
                <a:spcPts val="1000"/>
              </a:spcAft>
              <a:defRPr sz="1800"/>
            </a:pPr>
            <a:r>
              <a:t>Execute phased cutover with reconciliation, rollback readiness, and post-launch hypercare.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Integrated Workstreams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Claims Platform</a:t>
            </a:r>
          </a:p>
          <a:p>
            <a:pPr>
              <a:spcAft>
                <a:spcPts val="1000"/>
              </a:spcAft>
              <a:defRPr sz="1800"/>
            </a:pPr>
            <a:r>
              <a:t>Rules &amp; Configuration</a:t>
            </a:r>
          </a:p>
          <a:p>
            <a:pPr>
              <a:spcAft>
                <a:spcPts val="1000"/>
              </a:spcAft>
              <a:defRPr sz="1800"/>
            </a:pPr>
            <a:r>
              <a:t>Data &amp; Integration</a:t>
            </a:r>
          </a:p>
          <a:p>
            <a:pPr>
              <a:spcAft>
                <a:spcPts val="1000"/>
              </a:spcAft>
              <a:defRPr sz="1800"/>
            </a:pPr>
            <a:r>
              <a:t>Compliance &amp; Controls</a:t>
            </a:r>
          </a:p>
          <a:p>
            <a:pPr>
              <a:spcAft>
                <a:spcPts val="1000"/>
              </a:spcAft>
              <a:defRPr sz="1800"/>
            </a:pPr>
            <a:r>
              <a:t>Provider Operations</a:t>
            </a:r>
          </a:p>
          <a:p>
            <a:pPr>
              <a:spcAft>
                <a:spcPts val="1000"/>
              </a:spcAft>
              <a:defRPr sz="1800"/>
            </a:pPr>
            <a:r>
              <a:t>Testing, Cutover &amp; Hypercare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Executive KPI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Clean claim rate: 83 → 94 (+11 pts)</a:t>
            </a:r>
          </a:p>
          <a:p>
            <a:pPr>
              <a:spcAft>
                <a:spcPts val="1000"/>
              </a:spcAft>
              <a:defRPr sz="1800"/>
            </a:pPr>
            <a:r>
              <a:t>Avg. adjudication days: 6.8 → 3.9 (-43%)</a:t>
            </a:r>
          </a:p>
          <a:p>
            <a:pPr>
              <a:spcAft>
                <a:spcPts val="1000"/>
              </a:spcAft>
              <a:defRPr sz="1800"/>
            </a:pPr>
            <a:r>
              <a:t>Payment accuracy: 97.2 → 99.3 (99.3%)</a:t>
            </a:r>
          </a:p>
          <a:p>
            <a:pPr>
              <a:spcAft>
                <a:spcPts val="1000"/>
              </a:spcAft>
              <a:defRPr sz="1800"/>
            </a:pPr>
            <a:r>
              <a:t>Manual touch rate: 29 → 17 (-41%)</a:t>
            </a:r>
          </a:p>
          <a:p>
            <a:pPr>
              <a:spcAft>
                <a:spcPts val="1000"/>
              </a:spcAft>
              <a:defRPr sz="1800"/>
            </a:pPr>
            <a:r>
              <a:t>Critical defects at go-live: 12 → 1 (92% reduction)</a:t>
            </a:r>
          </a:p>
          <a:p>
            <a:pPr>
              <a:spcAft>
                <a:spcPts val="1000"/>
              </a:spcAft>
              <a:defRPr sz="1800"/>
            </a:pPr>
            <a:r>
              <a:t>Provider inquiry volume: 100 → 78 (-22%)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Financial &amp; Benefits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Approved budget: $6,300,000</a:t>
            </a:r>
          </a:p>
          <a:p>
            <a:pPr>
              <a:spcAft>
                <a:spcPts val="1000"/>
              </a:spcAft>
              <a:defRPr sz="1800"/>
            </a:pPr>
            <a:r>
              <a:t>Forecast annualized benefits: $2,585,000</a:t>
            </a:r>
          </a:p>
          <a:p>
            <a:pPr>
              <a:spcAft>
                <a:spcPts val="1000"/>
              </a:spcAft>
              <a:defRPr sz="1800"/>
            </a:pPr>
            <a:r>
              <a:t>Claims operations productivity: $1,260,000</a:t>
            </a:r>
          </a:p>
          <a:p>
            <a:pPr>
              <a:spcAft>
                <a:spcPts val="1000"/>
              </a:spcAft>
              <a:defRPr sz="1800"/>
            </a:pPr>
            <a:r>
              <a:t>Reduced rework / adjustments: $590,000</a:t>
            </a:r>
          </a:p>
          <a:p>
            <a:pPr>
              <a:spcAft>
                <a:spcPts val="1000"/>
              </a:spcAft>
              <a:defRPr sz="1800"/>
            </a:pPr>
            <a:r>
              <a:t>Platform maintenance reduction: $425,000</a:t>
            </a:r>
          </a:p>
          <a:p>
            <a:pPr>
              <a:spcAft>
                <a:spcPts val="1000"/>
              </a:spcAft>
              <a:defRPr sz="1800"/>
            </a:pPr>
            <a:r>
              <a:t>Provider service efficiency: $310,000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Top Risks &amp;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R-001 — Claims rule conversion defects | High/High | Dual-run validation, rule traceability and SME signoff | Mitigated</a:t>
            </a:r>
          </a:p>
          <a:p>
            <a:pPr>
              <a:spcAft>
                <a:spcPts val="1000"/>
              </a:spcAft>
              <a:defRPr sz="1800"/>
            </a:pPr>
            <a:r>
              <a:t>R-002 — PHI access misconfiguration | Medium/High | Role-based access testing, audit logging and privacy review | Closed</a:t>
            </a:r>
          </a:p>
          <a:p>
            <a:pPr>
              <a:spcAft>
                <a:spcPts val="1000"/>
              </a:spcAft>
              <a:defRPr sz="1800"/>
            </a:pPr>
            <a:r>
              <a:t>R-003 — Interface reconciliation variance | High/High | Automated control totals and daily reconciliation | Monitoring</a:t>
            </a:r>
          </a:p>
          <a:p>
            <a:pPr>
              <a:spcAft>
                <a:spcPts val="1000"/>
              </a:spcAft>
              <a:defRPr sz="1800"/>
            </a:pPr>
            <a:r>
              <a:t>R-004 — Provider disruption during cutover | Medium/High | Provider communications, command center and fallback routing | Mitigated</a:t>
            </a:r>
          </a:p>
          <a:p>
            <a:pPr>
              <a:spcAft>
                <a:spcPts val="1000"/>
              </a:spcAft>
              <a:defRPr sz="1800"/>
            </a:pPr>
            <a:r>
              <a:t>R-005 — Regulatory reporting regression | Medium/High | Parallel reporting and compliance acceptance criteria | Closed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Governance &amp;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Weekly integrated delivery review across all workstreams.</a:t>
            </a:r>
          </a:p>
          <a:p>
            <a:pPr>
              <a:spcAft>
                <a:spcPts val="1000"/>
              </a:spcAft>
              <a:defRPr sz="1800"/>
            </a:pPr>
            <a:r>
              <a:t>Monthly steering committee for funding, scope, timeline and risk decisions.</a:t>
            </a:r>
          </a:p>
          <a:p>
            <a:pPr>
              <a:spcAft>
                <a:spcPts val="1000"/>
              </a:spcAft>
              <a:defRPr sz="1800"/>
            </a:pPr>
            <a:r>
              <a:t>Formal change control for baseline impacts.</a:t>
            </a:r>
          </a:p>
          <a:p>
            <a:pPr>
              <a:spcAft>
                <a:spcPts val="1000"/>
              </a:spcAft>
              <a:defRPr sz="1800"/>
            </a:pPr>
            <a:r>
              <a:t>30/60/90-day benefits validation after transition.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Closure &amp; Transition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Delivery scope completed and transitioned to accountable BAU owners.</a:t>
            </a:r>
          </a:p>
          <a:p>
            <a:pPr>
              <a:spcAft>
                <a:spcPts val="1000"/>
              </a:spcAft>
              <a:defRPr sz="1800"/>
            </a:pPr>
            <a:r>
              <a:t>Residual risks accepted with owners and monitoring dates.</a:t>
            </a:r>
          </a:p>
          <a:p>
            <a:pPr>
              <a:spcAft>
                <a:spcPts val="1000"/>
              </a:spcAft>
              <a:defRPr sz="1800"/>
            </a:pPr>
            <a:r>
              <a:t>Benefits measurement transferred to business owners and Finance.</a:t>
            </a:r>
          </a:p>
          <a:p>
            <a:pPr>
              <a:spcAft>
                <a:spcPts val="1000"/>
              </a:spcAft>
              <a:defRPr sz="1800"/>
            </a:pPr>
            <a:r>
              <a:t>Lessons learned retained for future enterprise programs.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